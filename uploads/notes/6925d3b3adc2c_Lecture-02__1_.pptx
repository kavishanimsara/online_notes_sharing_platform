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9" r:id="rId3"/>
    <p:sldId id="256" r:id="rId4"/>
    <p:sldId id="263" r:id="rId5"/>
    <p:sldId id="264" r:id="rId6"/>
    <p:sldId id="265" r:id="rId7"/>
    <p:sldId id="266" r:id="rId8"/>
    <p:sldId id="267" r:id="rId9"/>
    <p:sldId id="262" r:id="rId10"/>
    <p:sldId id="258" r:id="rId11"/>
    <p:sldId id="259" r:id="rId12"/>
    <p:sldId id="260" r:id="rId13"/>
    <p:sldId id="261" r:id="rId14"/>
    <p:sldId id="268" r:id="rId15"/>
    <p:sldId id="270" r:id="rId16"/>
    <p:sldId id="271" r:id="rId17"/>
    <p:sldId id="27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B6B55-51B5-48DC-86B5-14BA873F5F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296BF7-0FAD-4F52-ABB4-1603F7BD44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EF8D1D-1DA2-4770-8D16-A001D84C6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813A6-E3E8-4E23-A5A2-25021992B1CE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6F134C-99F0-4C8A-9F4D-C20BA68D0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FD5D0-6861-4E50-A3F3-C30E00495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EC69B-6A09-447B-9D3D-3720AB986C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8270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53923-5B8A-4AD0-B122-3DC43AB73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6F83F-11DC-4138-871A-A8CE40D984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CDD80C-A9FA-49D1-AD02-E1C3F5515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813A6-E3E8-4E23-A5A2-25021992B1CE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ED013E-D6D6-4AD0-A6BD-FF8602B97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5FBF39-397F-4BE1-9F63-3A38E9F87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EC69B-6A09-447B-9D3D-3720AB986C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0882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DF135-C934-4B7A-832F-ADCDE792D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319CA3-B6C8-4A7E-B257-5B90D7E5FE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EF98C2-D0E1-4FC9-941F-9F074D2E6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813A6-E3E8-4E23-A5A2-25021992B1CE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AEE5F7-1F31-4F01-AC74-13E9A6C6B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90905-BF8C-432F-80E5-C9260ACE9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EC69B-6A09-447B-9D3D-3720AB986C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4322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42367-B247-449B-A5DB-68ED5555E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D036D-3B74-4BBF-BC6C-2BDC5960BA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4EE399-27CF-4B34-AEBD-C4E7E7DC96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151933-397E-4266-A750-EB7190DBC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813A6-E3E8-4E23-A5A2-25021992B1CE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BDC8EF-1F7A-4863-9F4A-EBCE2029A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DDA1DF-6788-4BE0-954A-AA22E30A6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EC69B-6A09-447B-9D3D-3720AB986C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8994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12D24-8899-4206-AFDE-17D71667A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ED4FE4-A270-458F-96C4-DF6599C43A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8EB972-7769-4724-B639-EFA7636EEA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794C81-D23C-4F93-BA60-3AD4699C6E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14E639-46A9-433C-B0A5-183C85C9DC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C8BC7E-5ADB-45A3-A280-E7BC89B01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813A6-E3E8-4E23-A5A2-25021992B1CE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93D2D3-6F41-4887-9C21-1147BBE89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C9961E-B2F8-4A93-85F1-499906E50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EC69B-6A09-447B-9D3D-3720AB986C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8511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0F5AF-5E38-43A6-95DA-546A9DA2D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FF714D-B026-4411-972D-88A718486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813A6-E3E8-4E23-A5A2-25021992B1CE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2B3D0F-76F7-4161-B51E-302E1577B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CD0595-9114-46FE-AAF5-3335900E6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EC69B-6A09-447B-9D3D-3720AB986C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7069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6284B1-7BFB-49A9-88DD-96398E4C5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813A6-E3E8-4E23-A5A2-25021992B1CE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2BC514-6A0F-414D-9F46-8B42F298B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9E2C3B-1197-49A5-A928-02D33FC81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EC69B-6A09-447B-9D3D-3720AB986C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193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0FE29-592D-4A91-87C9-AFFDE3066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B41B6-80E6-4D71-9969-26F10A8E60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C8D349-A34D-4FB9-B8AF-2FAE344976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9BD0DA-0089-42EC-B9F5-20CCBCD01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813A6-E3E8-4E23-A5A2-25021992B1CE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C20102-EB43-41CE-8E3E-20DBF51F1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94E0BD-B26F-4B9F-844C-83706A792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EC69B-6A09-447B-9D3D-3720AB986C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4455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97A53-B748-46DE-8174-F92BC5FAC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CD0F40-6847-4260-9B13-2EA27D0B07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261188-F4AC-42F6-8EF1-2CA3063A8E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0B8CC9-F3D9-4574-BA31-659DAB869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813A6-E3E8-4E23-A5A2-25021992B1CE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E7A9BB-5C1B-4E02-B977-D0BDBC746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742D4-F7E2-46D0-96DE-6BEB7F37A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EC69B-6A09-447B-9D3D-3720AB986C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8436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E43DF-AFA8-4FB6-8141-8C074C4EB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587F7A-41BB-4973-A3CE-9AAA2B235D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D6D02B-5FF3-4D76-8FE1-8B529A36B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813A6-E3E8-4E23-A5A2-25021992B1CE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D02100-E8CB-4521-8427-351390BDD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81D06-2AF8-4BA9-8EE3-3E3801B65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EC69B-6A09-447B-9D3D-3720AB986C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7167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BE978A-DB48-4F8B-8BD2-DBB969B828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C00DF-1AE8-4396-A0C7-03C5FB2960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0BBB34-B936-41CF-B82D-E157BE741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813A6-E3E8-4E23-A5A2-25021992B1CE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6568EF-BFCA-40AC-B96D-289A530BD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B0B27-19BD-4DE9-A2EC-5B3BCA2F5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EC69B-6A09-447B-9D3D-3720AB986C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7297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385B70-EAA7-4BF9-9881-979A35CD2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5B27F7-EEA7-4683-8BD1-15FD58D505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640924-36FC-4D15-AC77-3B4680D427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8813A6-E3E8-4E23-A5A2-25021992B1CE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96C67-48FD-4FFA-8DBD-9DB9851FF4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1EDB0B-4039-4B82-8D07-5DDB2A88B4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DEC69B-6A09-447B-9D3D-3720AB986C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1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3064B-9A1C-49D8-BEE3-2F380463CD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305" y="1041400"/>
            <a:ext cx="11945390" cy="2387600"/>
          </a:xfrm>
        </p:spPr>
        <p:txBody>
          <a:bodyPr>
            <a:noAutofit/>
          </a:bodyPr>
          <a:lstStyle/>
          <a:p>
            <a:r>
              <a:rPr lang="en-GB" sz="54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DS3105</a:t>
            </a:r>
            <a:br>
              <a:rPr lang="en-GB" sz="54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54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lang="en-GB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Networking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62CD3F-4FB7-4A64-A9D8-63FDDF5399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2598" y="4160838"/>
            <a:ext cx="9144000" cy="1655762"/>
          </a:xfrm>
        </p:spPr>
        <p:txBody>
          <a:bodyPr>
            <a:normAutofit/>
          </a:bodyPr>
          <a:lstStyle/>
          <a:p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Stop and wait ARQ Protocol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ED0278-A30C-42BB-880D-C58324BCC914}"/>
              </a:ext>
            </a:extLst>
          </p:cNvPr>
          <p:cNvSpPr txBox="1"/>
          <p:nvPr/>
        </p:nvSpPr>
        <p:spPr>
          <a:xfrm>
            <a:off x="5209880" y="5731497"/>
            <a:ext cx="17471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T.Kayalvizhy</a:t>
            </a:r>
            <a:endParaRPr lang="en-GB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6822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FF3D754-A5A7-4891-94FB-2D89A0354FA0}"/>
              </a:ext>
            </a:extLst>
          </p:cNvPr>
          <p:cNvSpPr/>
          <p:nvPr/>
        </p:nvSpPr>
        <p:spPr>
          <a:xfrm>
            <a:off x="103694" y="532409"/>
            <a:ext cx="11840067" cy="60123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121510-5490-4551-809F-0BFD6419DD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0614" y="367507"/>
            <a:ext cx="9144000" cy="766133"/>
          </a:xfrm>
        </p:spPr>
        <p:txBody>
          <a:bodyPr>
            <a:normAutofit/>
          </a:bodyPr>
          <a:lstStyle/>
          <a:p>
            <a:pPr algn="l"/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Objectives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5FBE5B41-1F72-41D7-9323-4F33B51BCA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5996976"/>
              </p:ext>
            </p:extLst>
          </p:nvPr>
        </p:nvGraphicFramePr>
        <p:xfrm>
          <a:off x="731006" y="2186718"/>
          <a:ext cx="10336062" cy="21590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26659">
                  <a:extLst>
                    <a:ext uri="{9D8B030D-6E8A-4147-A177-3AD203B41FA5}">
                      <a16:colId xmlns:a16="http://schemas.microsoft.com/office/drawing/2014/main" val="3541515565"/>
                    </a:ext>
                  </a:extLst>
                </a:gridCol>
                <a:gridCol w="7209403">
                  <a:extLst>
                    <a:ext uri="{9D8B030D-6E8A-4147-A177-3AD203B41FA5}">
                      <a16:colId xmlns:a16="http://schemas.microsoft.com/office/drawing/2014/main" val="2820030349"/>
                    </a:ext>
                  </a:extLst>
                </a:gridCol>
              </a:tblGrid>
              <a:tr h="622964"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Learning Outcome</a:t>
                      </a:r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Description</a:t>
                      </a:r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2407664"/>
                  </a:ext>
                </a:extLst>
              </a:tr>
              <a:tr h="1536074"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ILO 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Demonstrate knowledge &amp; Understand of operation of wireless networks, Emerging topics in computer networks, range of network architectures &amp; protocols </a:t>
                      </a:r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23049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57026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899A3AC-5578-4EAE-8E81-E983359F1656}"/>
              </a:ext>
            </a:extLst>
          </p:cNvPr>
          <p:cNvSpPr/>
          <p:nvPr/>
        </p:nvSpPr>
        <p:spPr>
          <a:xfrm>
            <a:off x="103694" y="532409"/>
            <a:ext cx="11840067" cy="60123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65D144-7F66-4460-9A75-137D54B1DF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7620" y="429929"/>
            <a:ext cx="10263447" cy="806190"/>
          </a:xfrm>
        </p:spPr>
        <p:txBody>
          <a:bodyPr>
            <a:normAutofit/>
          </a:bodyPr>
          <a:lstStyle/>
          <a:p>
            <a:pPr algn="l"/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 Wireless Network?</a:t>
            </a:r>
            <a:endParaRPr lang="en-GB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EBDCC4-AD85-40EC-8689-1E7DFDD293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6217" y="1806197"/>
            <a:ext cx="11393978" cy="4444973"/>
          </a:xfrm>
        </p:spPr>
        <p:txBody>
          <a:bodyPr>
            <a:no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wireless network allows devices to communicate without physical cables, using radio waves, infrared, or microwave signals.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examples: Wi-Fi, Bluetooth, Cellular (4G/5G), Satellite.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through transmitters, receivers, and antennas.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Flexibility &amp; mobility: users can connect anytime, anywhere.</a:t>
            </a:r>
          </a:p>
          <a:p>
            <a:pPr algn="just"/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8498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492CCFC-00CD-42F6-BA37-2A59323EDE04}"/>
              </a:ext>
            </a:extLst>
          </p:cNvPr>
          <p:cNvSpPr/>
          <p:nvPr/>
        </p:nvSpPr>
        <p:spPr>
          <a:xfrm>
            <a:off x="103694" y="532409"/>
            <a:ext cx="11840067" cy="60123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65D144-7F66-4460-9A75-137D54B1DF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476" y="327450"/>
            <a:ext cx="10873048" cy="806190"/>
          </a:xfrm>
        </p:spPr>
        <p:txBody>
          <a:bodyPr>
            <a:normAutofit fontScale="90000"/>
          </a:bodyPr>
          <a:lstStyle/>
          <a:p>
            <a:pPr algn="l"/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and Challenges of Wireless Communication</a:t>
            </a:r>
            <a:endParaRPr lang="en-GB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EBDCC4-AD85-40EC-8689-1E7DFDD293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6093" y="1390561"/>
            <a:ext cx="11393978" cy="4444973"/>
          </a:xfrm>
        </p:spPr>
        <p:txBody>
          <a:bodyPr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 Features: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Mobility: users can move freely while connected.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Ease of deployment: no physical cabling needed.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Scalability: easy to add new devices.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Interference: radio signals overlap or distort.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bandwidth: shared medium → congestion.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fading: obstacles weaken signal strength.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threats: easier eavesdropping than wired networks.</a:t>
            </a:r>
          </a:p>
        </p:txBody>
      </p:sp>
    </p:spTree>
    <p:extLst>
      <p:ext uri="{BB962C8B-B14F-4D97-AF65-F5344CB8AC3E}">
        <p14:creationId xmlns:p14="http://schemas.microsoft.com/office/powerpoint/2010/main" val="1997380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AB05A85-FF32-4835-8FA3-89F3010F7934}"/>
              </a:ext>
            </a:extLst>
          </p:cNvPr>
          <p:cNvSpPr/>
          <p:nvPr/>
        </p:nvSpPr>
        <p:spPr>
          <a:xfrm>
            <a:off x="103694" y="532409"/>
            <a:ext cx="11840067" cy="60123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65D144-7F66-4460-9A75-137D54B1DF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6093" y="327450"/>
            <a:ext cx="10873048" cy="806190"/>
          </a:xfrm>
        </p:spPr>
        <p:txBody>
          <a:bodyPr>
            <a:normAutofit/>
          </a:bodyPr>
          <a:lstStyle/>
          <a:p>
            <a:pPr algn="l"/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Errors in Data Transmission</a:t>
            </a:r>
            <a:endParaRPr lang="en-GB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EBDCC4-AD85-40EC-8689-1E7DFDD293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6093" y="1390561"/>
            <a:ext cx="11393978" cy="4444973"/>
          </a:xfrm>
        </p:spPr>
        <p:txBody>
          <a:bodyPr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wireless communication, data travels through the air, not cables.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wireless medium is unpredictable  signals are affected by: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Noise and interference (from other devices)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Obstacles and signal fading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Mobility of users (changing distance, handoffs)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Atmospheric conditions</a:t>
            </a:r>
            <a:endParaRPr 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8383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723A359-16AB-461B-A8A8-3B185E077B5C}"/>
              </a:ext>
            </a:extLst>
          </p:cNvPr>
          <p:cNvSpPr/>
          <p:nvPr/>
        </p:nvSpPr>
        <p:spPr>
          <a:xfrm>
            <a:off x="103694" y="532409"/>
            <a:ext cx="11840067" cy="60123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65D144-7F66-4460-9A75-137D54B1DF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6093" y="327450"/>
            <a:ext cx="10873048" cy="806190"/>
          </a:xfrm>
        </p:spPr>
        <p:txBody>
          <a:bodyPr>
            <a:normAutofit/>
          </a:bodyPr>
          <a:lstStyle/>
          <a:p>
            <a:pPr algn="l"/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Errors in Data Transmission</a:t>
            </a:r>
            <a:endParaRPr lang="en-GB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EBDCC4-AD85-40EC-8689-1E7DFDD293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6093" y="1390561"/>
            <a:ext cx="11393978" cy="4827359"/>
          </a:xfrm>
        </p:spPr>
        <p:txBody>
          <a:bodyPr>
            <a:no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Bits may get flipped, lost, or duplicated during transmission.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Leads to errors in received data.</a:t>
            </a:r>
          </a:p>
          <a:p>
            <a:pPr algn="just"/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Sent: 11001010 → Received: 110</a:t>
            </a:r>
            <a:r>
              <a:rPr lang="en-GB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1010 (1 bit error)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3522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1576F66-87E6-4BB7-BD42-0D4109D89CDB}"/>
              </a:ext>
            </a:extLst>
          </p:cNvPr>
          <p:cNvSpPr/>
          <p:nvPr/>
        </p:nvSpPr>
        <p:spPr>
          <a:xfrm>
            <a:off x="103694" y="532409"/>
            <a:ext cx="11840067" cy="60123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65D144-7F66-4460-9A75-137D54B1DF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6093" y="367268"/>
            <a:ext cx="10873048" cy="806190"/>
          </a:xfrm>
        </p:spPr>
        <p:txBody>
          <a:bodyPr>
            <a:normAutofit/>
          </a:bodyPr>
          <a:lstStyle/>
          <a:p>
            <a:pPr algn="l"/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Ensuring Reliable Wireless Communication</a:t>
            </a:r>
            <a:endParaRPr lang="en-GB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EBDCC4-AD85-40EC-8689-1E7DFDD293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7645" y="1663373"/>
            <a:ext cx="11683572" cy="4827359"/>
          </a:xfrm>
        </p:spPr>
        <p:txBody>
          <a:bodyPr>
            <a:no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Wireless networks can’t guarantee perfect delivery, so reliability must come from the software/protocol level.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control techniques help: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GB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errors caused by channel noise or interference.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GB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 or retransmit corrupted data automatically.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GB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Quality of Service (QoS) for applications like video calls, IoT, etc.</a:t>
            </a:r>
          </a:p>
        </p:txBody>
      </p:sp>
    </p:spTree>
    <p:extLst>
      <p:ext uri="{BB962C8B-B14F-4D97-AF65-F5344CB8AC3E}">
        <p14:creationId xmlns:p14="http://schemas.microsoft.com/office/powerpoint/2010/main" val="1250882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FB03D9E-9F3F-49ED-BB67-5A87FAB5F4AA}"/>
              </a:ext>
            </a:extLst>
          </p:cNvPr>
          <p:cNvSpPr/>
          <p:nvPr/>
        </p:nvSpPr>
        <p:spPr>
          <a:xfrm>
            <a:off x="103694" y="532409"/>
            <a:ext cx="11840067" cy="60123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65D144-7F66-4460-9A75-137D54B1DF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7203" y="327450"/>
            <a:ext cx="10873048" cy="806190"/>
          </a:xfrm>
        </p:spPr>
        <p:txBody>
          <a:bodyPr>
            <a:normAutofit/>
          </a:bodyPr>
          <a:lstStyle/>
          <a:p>
            <a:pPr algn="l"/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Main Approaches</a:t>
            </a:r>
            <a:endParaRPr lang="en-GB" sz="36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CC40C82-9B3F-4D5F-852F-82B8703688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731953"/>
              </p:ext>
            </p:extLst>
          </p:nvPr>
        </p:nvGraphicFramePr>
        <p:xfrm>
          <a:off x="587203" y="1764225"/>
          <a:ext cx="11032376" cy="46486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58094">
                  <a:extLst>
                    <a:ext uri="{9D8B030D-6E8A-4147-A177-3AD203B41FA5}">
                      <a16:colId xmlns:a16="http://schemas.microsoft.com/office/drawing/2014/main" val="3268174564"/>
                    </a:ext>
                  </a:extLst>
                </a:gridCol>
                <a:gridCol w="2758094">
                  <a:extLst>
                    <a:ext uri="{9D8B030D-6E8A-4147-A177-3AD203B41FA5}">
                      <a16:colId xmlns:a16="http://schemas.microsoft.com/office/drawing/2014/main" val="1461556302"/>
                    </a:ext>
                  </a:extLst>
                </a:gridCol>
                <a:gridCol w="2758094">
                  <a:extLst>
                    <a:ext uri="{9D8B030D-6E8A-4147-A177-3AD203B41FA5}">
                      <a16:colId xmlns:a16="http://schemas.microsoft.com/office/drawing/2014/main" val="1680092993"/>
                    </a:ext>
                  </a:extLst>
                </a:gridCol>
                <a:gridCol w="2758094">
                  <a:extLst>
                    <a:ext uri="{9D8B030D-6E8A-4147-A177-3AD203B41FA5}">
                      <a16:colId xmlns:a16="http://schemas.microsoft.com/office/drawing/2014/main" val="603877045"/>
                    </a:ext>
                  </a:extLst>
                </a:gridCol>
              </a:tblGrid>
              <a:tr h="808182">
                <a:tc>
                  <a:txBody>
                    <a:bodyPr/>
                    <a:lstStyle/>
                    <a:p>
                      <a:r>
                        <a:rPr lang="en-GB" sz="2400" b="1" dirty="0"/>
                        <a:t>Technique</a:t>
                      </a:r>
                      <a:endParaRPr lang="en-GB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400" b="1"/>
                        <a:t>Method</a:t>
                      </a:r>
                      <a:endParaRPr lang="en-GB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400" b="1"/>
                        <a:t>Example</a:t>
                      </a:r>
                      <a:endParaRPr lang="en-GB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400" b="1"/>
                        <a:t>Use Case</a:t>
                      </a:r>
                      <a:endParaRPr lang="en-GB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803664"/>
                  </a:ext>
                </a:extLst>
              </a:tr>
              <a:tr h="1414319">
                <a:tc>
                  <a:txBody>
                    <a:bodyPr/>
                    <a:lstStyle/>
                    <a:p>
                      <a:r>
                        <a:rPr lang="en-GB" sz="2400" b="1"/>
                        <a:t>ARQ (Automatic Repeat Request)</a:t>
                      </a:r>
                      <a:endParaRPr lang="en-GB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Detect errors  (request retransmission)</a:t>
                      </a:r>
                      <a:endParaRPr lang="en-GB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400"/>
                        <a:t>Stop-and-Wait, Go-Back-N, Selective Repeat</a:t>
                      </a:r>
                      <a:endParaRPr lang="en-GB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Reliable but increases the delay, simpler, but needs acknowledgment</a:t>
                      </a:r>
                      <a:endParaRPr lang="en-GB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4134628"/>
                  </a:ext>
                </a:extLst>
              </a:tr>
              <a:tr h="1414319">
                <a:tc>
                  <a:txBody>
                    <a:bodyPr/>
                    <a:lstStyle/>
                    <a:p>
                      <a:r>
                        <a:rPr lang="en-GB" sz="2400" b="1"/>
                        <a:t>FEC (Forward Error Correction)</a:t>
                      </a:r>
                      <a:endParaRPr lang="en-GB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Add redundant bits (correct errors at the receiver)</a:t>
                      </a:r>
                      <a:endParaRPr lang="en-GB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400"/>
                        <a:t>Hamming Code, Reed–Solomon</a:t>
                      </a:r>
                      <a:endParaRPr lang="en-GB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Used in real-time &amp; noisy channels, faster (no retransmission), but uses more bandwidth.</a:t>
                      </a:r>
                      <a:endParaRPr lang="en-GB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27723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96049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C1907F2-775A-444C-B46B-DE6B6FC47832}"/>
              </a:ext>
            </a:extLst>
          </p:cNvPr>
          <p:cNvSpPr/>
          <p:nvPr/>
        </p:nvSpPr>
        <p:spPr>
          <a:xfrm>
            <a:off x="103694" y="532409"/>
            <a:ext cx="11840067" cy="60123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65D144-7F66-4460-9A75-137D54B1DF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7204" y="327450"/>
            <a:ext cx="10263447" cy="806190"/>
          </a:xfrm>
        </p:spPr>
        <p:txBody>
          <a:bodyPr>
            <a:normAutofit/>
          </a:bodyPr>
          <a:lstStyle/>
          <a:p>
            <a:pPr algn="l"/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Stop and wait ARQ Protocol</a:t>
            </a:r>
            <a:endParaRPr lang="en-GB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EBDCC4-AD85-40EC-8689-1E7DFDD293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7239" y="1569671"/>
            <a:ext cx="11393978" cy="1655762"/>
          </a:xfrm>
        </p:spPr>
        <p:txBody>
          <a:bodyPr>
            <a:no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stop-and-wait protocol is a data link layer protocol for the transmission of frames over noiseless channels.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unidirectional data transmission with flow control facilities but without error control facilities.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After transmitting one frame, the sender waits for an acknowledgement before transmitting the next frame.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Stop and wait ARQ =Stop and wait + Timeout timer +Sequence number. </a:t>
            </a:r>
          </a:p>
          <a:p>
            <a:pPr algn="just"/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283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49A9C01-4399-434D-A38B-77DED068F6B7}"/>
              </a:ext>
            </a:extLst>
          </p:cNvPr>
          <p:cNvSpPr/>
          <p:nvPr/>
        </p:nvSpPr>
        <p:spPr>
          <a:xfrm>
            <a:off x="175966" y="246608"/>
            <a:ext cx="11840067" cy="60123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65D144-7F66-4460-9A75-137D54B1DF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8888" y="-86224"/>
            <a:ext cx="10263447" cy="806190"/>
          </a:xfrm>
        </p:spPr>
        <p:txBody>
          <a:bodyPr>
            <a:normAutofit/>
          </a:bodyPr>
          <a:lstStyle/>
          <a:p>
            <a:pPr algn="l"/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Stop and wait ARQ Protocol</a:t>
            </a:r>
            <a:endParaRPr lang="en-GB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EBDCC4-AD85-40EC-8689-1E7DFDD293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5686" y="1100890"/>
            <a:ext cx="11806859" cy="1655762"/>
          </a:xfrm>
        </p:spPr>
        <p:txBody>
          <a:bodyPr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Sender side: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one data packet at a time.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the next packet only after receiving an ACK for the previous.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Receiver side: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 and consume data packet.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consuming the packet, ACK need to be sent(Flow Control).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FE5BB7C-3C9A-466F-95CF-2BC6F044FE37}"/>
              </a:ext>
            </a:extLst>
          </p:cNvPr>
          <p:cNvCxnSpPr/>
          <p:nvPr/>
        </p:nvCxnSpPr>
        <p:spPr>
          <a:xfrm>
            <a:off x="1113905" y="3821108"/>
            <a:ext cx="0" cy="225690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86B6558-F9EC-439D-8E8E-A4DC898C94D2}"/>
              </a:ext>
            </a:extLst>
          </p:cNvPr>
          <p:cNvCxnSpPr/>
          <p:nvPr/>
        </p:nvCxnSpPr>
        <p:spPr>
          <a:xfrm>
            <a:off x="3857105" y="3788396"/>
            <a:ext cx="0" cy="225690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C3FCB0A-1E6D-42DE-ADAB-5A902422126F}"/>
              </a:ext>
            </a:extLst>
          </p:cNvPr>
          <p:cNvCxnSpPr>
            <a:cxnSpLocks/>
          </p:cNvCxnSpPr>
          <p:nvPr/>
        </p:nvCxnSpPr>
        <p:spPr>
          <a:xfrm>
            <a:off x="1119331" y="4134638"/>
            <a:ext cx="27432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7C2413C-049E-42F5-A163-FA72FD83A02C}"/>
              </a:ext>
            </a:extLst>
          </p:cNvPr>
          <p:cNvCxnSpPr>
            <a:cxnSpLocks/>
          </p:cNvCxnSpPr>
          <p:nvPr/>
        </p:nvCxnSpPr>
        <p:spPr>
          <a:xfrm flipH="1">
            <a:off x="1088965" y="5034427"/>
            <a:ext cx="27432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BBAD787-A7AC-4473-8729-F440EFC752A8}"/>
              </a:ext>
            </a:extLst>
          </p:cNvPr>
          <p:cNvSpPr txBox="1"/>
          <p:nvPr/>
        </p:nvSpPr>
        <p:spPr>
          <a:xfrm>
            <a:off x="904401" y="6055738"/>
            <a:ext cx="953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Sender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1B6A08-64CA-4594-B3E6-372F583840C7}"/>
              </a:ext>
            </a:extLst>
          </p:cNvPr>
          <p:cNvSpPr txBox="1"/>
          <p:nvPr/>
        </p:nvSpPr>
        <p:spPr>
          <a:xfrm>
            <a:off x="3277986" y="6007915"/>
            <a:ext cx="1158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Receiver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22BAFD-7901-465C-B3E4-E0B1DE7AC030}"/>
              </a:ext>
            </a:extLst>
          </p:cNvPr>
          <p:cNvSpPr txBox="1"/>
          <p:nvPr/>
        </p:nvSpPr>
        <p:spPr>
          <a:xfrm>
            <a:off x="1978422" y="3883211"/>
            <a:ext cx="953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Frame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9304AB-E306-42AF-B2B4-074E3B349157}"/>
              </a:ext>
            </a:extLst>
          </p:cNvPr>
          <p:cNvSpPr txBox="1"/>
          <p:nvPr/>
        </p:nvSpPr>
        <p:spPr>
          <a:xfrm>
            <a:off x="1848199" y="4638501"/>
            <a:ext cx="953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ACK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0B45E4F-15F4-4658-9E99-B5E2E1424823}"/>
              </a:ext>
            </a:extLst>
          </p:cNvPr>
          <p:cNvCxnSpPr/>
          <p:nvPr/>
        </p:nvCxnSpPr>
        <p:spPr>
          <a:xfrm>
            <a:off x="5580611" y="4093941"/>
            <a:ext cx="0" cy="17112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4D26817-622D-48E4-B79B-E6FB567C476B}"/>
              </a:ext>
            </a:extLst>
          </p:cNvPr>
          <p:cNvSpPr txBox="1"/>
          <p:nvPr/>
        </p:nvSpPr>
        <p:spPr>
          <a:xfrm>
            <a:off x="5624601" y="4547516"/>
            <a:ext cx="1158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Time</a:t>
            </a:r>
          </a:p>
        </p:txBody>
      </p:sp>
      <p:sp>
        <p:nvSpPr>
          <p:cNvPr id="20" name="Right Brace 19">
            <a:extLst>
              <a:ext uri="{FF2B5EF4-FFF2-40B4-BE49-F238E27FC236}">
                <a16:creationId xmlns:a16="http://schemas.microsoft.com/office/drawing/2014/main" id="{F3D059FD-52EC-4B8B-AAC4-0371051CED84}"/>
              </a:ext>
            </a:extLst>
          </p:cNvPr>
          <p:cNvSpPr/>
          <p:nvPr/>
        </p:nvSpPr>
        <p:spPr>
          <a:xfrm>
            <a:off x="4089850" y="4178785"/>
            <a:ext cx="144074" cy="830088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E934B07-00A1-49FD-82AA-49F985B88074}"/>
              </a:ext>
            </a:extLst>
          </p:cNvPr>
          <p:cNvSpPr txBox="1"/>
          <p:nvPr/>
        </p:nvSpPr>
        <p:spPr>
          <a:xfrm>
            <a:off x="4181560" y="4445262"/>
            <a:ext cx="1158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Timeout</a:t>
            </a:r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1622D233-8687-46C8-AE5B-5F09D11A2A83}"/>
              </a:ext>
            </a:extLst>
          </p:cNvPr>
          <p:cNvSpPr txBox="1">
            <a:spLocks/>
          </p:cNvSpPr>
          <p:nvPr/>
        </p:nvSpPr>
        <p:spPr>
          <a:xfrm>
            <a:off x="6738849" y="4873758"/>
            <a:ext cx="5760728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ACK is received before the timer expires.</a:t>
            </a:r>
          </a:p>
        </p:txBody>
      </p:sp>
    </p:spTree>
    <p:extLst>
      <p:ext uri="{BB962C8B-B14F-4D97-AF65-F5344CB8AC3E}">
        <p14:creationId xmlns:p14="http://schemas.microsoft.com/office/powerpoint/2010/main" val="19913504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148373D-CF4D-4DC1-AF59-DD1C2FD1E999}"/>
              </a:ext>
            </a:extLst>
          </p:cNvPr>
          <p:cNvSpPr/>
          <p:nvPr/>
        </p:nvSpPr>
        <p:spPr>
          <a:xfrm>
            <a:off x="103694" y="410108"/>
            <a:ext cx="11840067" cy="60123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65D144-7F66-4460-9A75-137D54B1DF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8888" y="128250"/>
            <a:ext cx="10263447" cy="806190"/>
          </a:xfrm>
        </p:spPr>
        <p:txBody>
          <a:bodyPr>
            <a:normAutofit/>
          </a:bodyPr>
          <a:lstStyle/>
          <a:p>
            <a:pPr algn="l"/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 of Stop and wait Protocol</a:t>
            </a:r>
            <a:endParaRPr lang="en-GB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EBDCC4-AD85-40EC-8689-1E7DFDD293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141" y="1193792"/>
            <a:ext cx="11806859" cy="2186516"/>
          </a:xfrm>
        </p:spPr>
        <p:txBody>
          <a:bodyPr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Problems due to lost data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Sender waits for an ack for an infinite amount of time.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Receiver waits for data for an infinite amount of time.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FE5BB7C-3C9A-466F-95CF-2BC6F044FE37}"/>
              </a:ext>
            </a:extLst>
          </p:cNvPr>
          <p:cNvCxnSpPr/>
          <p:nvPr/>
        </p:nvCxnSpPr>
        <p:spPr>
          <a:xfrm>
            <a:off x="1113905" y="3429000"/>
            <a:ext cx="0" cy="225690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86B6558-F9EC-439D-8E8E-A4DC898C94D2}"/>
              </a:ext>
            </a:extLst>
          </p:cNvPr>
          <p:cNvCxnSpPr/>
          <p:nvPr/>
        </p:nvCxnSpPr>
        <p:spPr>
          <a:xfrm>
            <a:off x="3857106" y="3510048"/>
            <a:ext cx="0" cy="225690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C3FCB0A-1E6D-42DE-ADAB-5A902422126F}"/>
              </a:ext>
            </a:extLst>
          </p:cNvPr>
          <p:cNvCxnSpPr>
            <a:cxnSpLocks/>
          </p:cNvCxnSpPr>
          <p:nvPr/>
        </p:nvCxnSpPr>
        <p:spPr>
          <a:xfrm>
            <a:off x="1113905" y="3857105"/>
            <a:ext cx="1795552" cy="2665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BBAD787-A7AC-4473-8729-F440EFC752A8}"/>
              </a:ext>
            </a:extLst>
          </p:cNvPr>
          <p:cNvSpPr txBox="1"/>
          <p:nvPr/>
        </p:nvSpPr>
        <p:spPr>
          <a:xfrm>
            <a:off x="942109" y="5701639"/>
            <a:ext cx="953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Sender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1B6A08-64CA-4594-B3E6-372F583840C7}"/>
              </a:ext>
            </a:extLst>
          </p:cNvPr>
          <p:cNvSpPr txBox="1"/>
          <p:nvPr/>
        </p:nvSpPr>
        <p:spPr>
          <a:xfrm>
            <a:off x="3277986" y="5653367"/>
            <a:ext cx="1158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Receiver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22BAFD-7901-465C-B3E4-E0B1DE7AC030}"/>
              </a:ext>
            </a:extLst>
          </p:cNvPr>
          <p:cNvSpPr txBox="1"/>
          <p:nvPr/>
        </p:nvSpPr>
        <p:spPr>
          <a:xfrm>
            <a:off x="1983970" y="3439081"/>
            <a:ext cx="953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Frame</a:t>
            </a:r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1622D233-8687-46C8-AE5B-5F09D11A2A83}"/>
              </a:ext>
            </a:extLst>
          </p:cNvPr>
          <p:cNvSpPr txBox="1">
            <a:spLocks/>
          </p:cNvSpPr>
          <p:nvPr/>
        </p:nvSpPr>
        <p:spPr>
          <a:xfrm>
            <a:off x="5813369" y="3873730"/>
            <a:ext cx="5760728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Original frame is lost</a:t>
            </a:r>
          </a:p>
        </p:txBody>
      </p:sp>
    </p:spTree>
    <p:extLst>
      <p:ext uri="{BB962C8B-B14F-4D97-AF65-F5344CB8AC3E}">
        <p14:creationId xmlns:p14="http://schemas.microsoft.com/office/powerpoint/2010/main" val="13324438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61452F4-E6B8-42DE-806A-9110B851D147}"/>
              </a:ext>
            </a:extLst>
          </p:cNvPr>
          <p:cNvSpPr/>
          <p:nvPr/>
        </p:nvSpPr>
        <p:spPr>
          <a:xfrm>
            <a:off x="175966" y="423146"/>
            <a:ext cx="11840067" cy="60123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65D144-7F66-4460-9A75-137D54B1DF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8888" y="128250"/>
            <a:ext cx="10263447" cy="806190"/>
          </a:xfrm>
        </p:spPr>
        <p:txBody>
          <a:bodyPr>
            <a:normAutofit/>
          </a:bodyPr>
          <a:lstStyle/>
          <a:p>
            <a:pPr algn="l"/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 of Stop and wait Protocol</a:t>
            </a:r>
            <a:endParaRPr lang="en-GB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EBDCC4-AD85-40EC-8689-1E7DFDD293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141" y="1193792"/>
            <a:ext cx="11806859" cy="2186516"/>
          </a:xfrm>
        </p:spPr>
        <p:txBody>
          <a:bodyPr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Problems due to lost ACK.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Sender waits for an infinite amount of time for ack.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FE5BB7C-3C9A-466F-95CF-2BC6F044FE37}"/>
              </a:ext>
            </a:extLst>
          </p:cNvPr>
          <p:cNvCxnSpPr/>
          <p:nvPr/>
        </p:nvCxnSpPr>
        <p:spPr>
          <a:xfrm>
            <a:off x="1113905" y="3429000"/>
            <a:ext cx="0" cy="225690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86B6558-F9EC-439D-8E8E-A4DC898C94D2}"/>
              </a:ext>
            </a:extLst>
          </p:cNvPr>
          <p:cNvCxnSpPr/>
          <p:nvPr/>
        </p:nvCxnSpPr>
        <p:spPr>
          <a:xfrm>
            <a:off x="3857106" y="3510048"/>
            <a:ext cx="0" cy="225690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C3FCB0A-1E6D-42DE-ADAB-5A902422126F}"/>
              </a:ext>
            </a:extLst>
          </p:cNvPr>
          <p:cNvCxnSpPr>
            <a:cxnSpLocks/>
          </p:cNvCxnSpPr>
          <p:nvPr/>
        </p:nvCxnSpPr>
        <p:spPr>
          <a:xfrm>
            <a:off x="1113905" y="3898350"/>
            <a:ext cx="2743201" cy="3708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7C2413C-049E-42F5-A163-FA72FD83A02C}"/>
              </a:ext>
            </a:extLst>
          </p:cNvPr>
          <p:cNvCxnSpPr>
            <a:cxnSpLocks/>
          </p:cNvCxnSpPr>
          <p:nvPr/>
        </p:nvCxnSpPr>
        <p:spPr>
          <a:xfrm flipH="1">
            <a:off x="1712422" y="4493001"/>
            <a:ext cx="2144684" cy="2265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BBAD787-A7AC-4473-8729-F440EFC752A8}"/>
              </a:ext>
            </a:extLst>
          </p:cNvPr>
          <p:cNvSpPr txBox="1"/>
          <p:nvPr/>
        </p:nvSpPr>
        <p:spPr>
          <a:xfrm>
            <a:off x="942109" y="5701639"/>
            <a:ext cx="953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Sender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1B6A08-64CA-4594-B3E6-372F583840C7}"/>
              </a:ext>
            </a:extLst>
          </p:cNvPr>
          <p:cNvSpPr txBox="1"/>
          <p:nvPr/>
        </p:nvSpPr>
        <p:spPr>
          <a:xfrm>
            <a:off x="3277986" y="5653367"/>
            <a:ext cx="1158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Receiver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22BAFD-7901-465C-B3E4-E0B1DE7AC030}"/>
              </a:ext>
            </a:extLst>
          </p:cNvPr>
          <p:cNvSpPr txBox="1"/>
          <p:nvPr/>
        </p:nvSpPr>
        <p:spPr>
          <a:xfrm>
            <a:off x="1983970" y="3439081"/>
            <a:ext cx="953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Frame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9304AB-E306-42AF-B2B4-074E3B349157}"/>
              </a:ext>
            </a:extLst>
          </p:cNvPr>
          <p:cNvSpPr txBox="1"/>
          <p:nvPr/>
        </p:nvSpPr>
        <p:spPr>
          <a:xfrm>
            <a:off x="1956265" y="4350218"/>
            <a:ext cx="953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ACK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0B45E4F-15F4-4658-9E99-B5E2E1424823}"/>
              </a:ext>
            </a:extLst>
          </p:cNvPr>
          <p:cNvCxnSpPr/>
          <p:nvPr/>
        </p:nvCxnSpPr>
        <p:spPr>
          <a:xfrm>
            <a:off x="5580612" y="3808413"/>
            <a:ext cx="0" cy="17112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4D26817-622D-48E4-B79B-E6FB567C476B}"/>
              </a:ext>
            </a:extLst>
          </p:cNvPr>
          <p:cNvSpPr txBox="1"/>
          <p:nvPr/>
        </p:nvSpPr>
        <p:spPr>
          <a:xfrm>
            <a:off x="5793971" y="4269169"/>
            <a:ext cx="1158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Time</a:t>
            </a:r>
          </a:p>
        </p:txBody>
      </p:sp>
      <p:sp>
        <p:nvSpPr>
          <p:cNvPr id="20" name="Right Brace 19">
            <a:extLst>
              <a:ext uri="{FF2B5EF4-FFF2-40B4-BE49-F238E27FC236}">
                <a16:creationId xmlns:a16="http://schemas.microsoft.com/office/drawing/2014/main" id="{F3D059FD-52EC-4B8B-AAC4-0371051CED84}"/>
              </a:ext>
            </a:extLst>
          </p:cNvPr>
          <p:cNvSpPr/>
          <p:nvPr/>
        </p:nvSpPr>
        <p:spPr>
          <a:xfrm>
            <a:off x="4125889" y="3898350"/>
            <a:ext cx="144074" cy="830088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E934B07-00A1-49FD-82AA-49F985B88074}"/>
              </a:ext>
            </a:extLst>
          </p:cNvPr>
          <p:cNvSpPr txBox="1"/>
          <p:nvPr/>
        </p:nvSpPr>
        <p:spPr>
          <a:xfrm>
            <a:off x="4269963" y="4123669"/>
            <a:ext cx="1158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Timeout</a:t>
            </a:r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1622D233-8687-46C8-AE5B-5F09D11A2A83}"/>
              </a:ext>
            </a:extLst>
          </p:cNvPr>
          <p:cNvSpPr txBox="1">
            <a:spLocks/>
          </p:cNvSpPr>
          <p:nvPr/>
        </p:nvSpPr>
        <p:spPr>
          <a:xfrm>
            <a:off x="6738849" y="4873758"/>
            <a:ext cx="5760728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ACK is lost.</a:t>
            </a:r>
          </a:p>
        </p:txBody>
      </p:sp>
    </p:spTree>
    <p:extLst>
      <p:ext uri="{BB962C8B-B14F-4D97-AF65-F5344CB8AC3E}">
        <p14:creationId xmlns:p14="http://schemas.microsoft.com/office/powerpoint/2010/main" val="19551442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D3128A44-0C9B-425D-9363-821F1DC7CCDC}"/>
              </a:ext>
            </a:extLst>
          </p:cNvPr>
          <p:cNvSpPr/>
          <p:nvPr/>
        </p:nvSpPr>
        <p:spPr>
          <a:xfrm>
            <a:off x="175966" y="380629"/>
            <a:ext cx="11840067" cy="60123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65D144-7F66-4460-9A75-137D54B1DF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8888" y="128250"/>
            <a:ext cx="10263447" cy="806190"/>
          </a:xfrm>
        </p:spPr>
        <p:txBody>
          <a:bodyPr>
            <a:normAutofit/>
          </a:bodyPr>
          <a:lstStyle/>
          <a:p>
            <a:pPr algn="l"/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 of Stop and wait Protocol</a:t>
            </a:r>
            <a:endParaRPr lang="en-GB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EBDCC4-AD85-40EC-8689-1E7DFDD293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141" y="1393536"/>
            <a:ext cx="11806859" cy="2186516"/>
          </a:xfrm>
        </p:spPr>
        <p:txBody>
          <a:bodyPr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Problems due to delayed ACK/data.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a timeout on the sender side, a delayed ack might be wrongly considered as an ack of some other data packet.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FE5BB7C-3C9A-466F-95CF-2BC6F044FE37}"/>
              </a:ext>
            </a:extLst>
          </p:cNvPr>
          <p:cNvCxnSpPr/>
          <p:nvPr/>
        </p:nvCxnSpPr>
        <p:spPr>
          <a:xfrm>
            <a:off x="1113905" y="3429000"/>
            <a:ext cx="0" cy="225690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86B6558-F9EC-439D-8E8E-A4DC898C94D2}"/>
              </a:ext>
            </a:extLst>
          </p:cNvPr>
          <p:cNvCxnSpPr/>
          <p:nvPr/>
        </p:nvCxnSpPr>
        <p:spPr>
          <a:xfrm>
            <a:off x="3857106" y="3510048"/>
            <a:ext cx="0" cy="225690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C3FCB0A-1E6D-42DE-ADAB-5A902422126F}"/>
              </a:ext>
            </a:extLst>
          </p:cNvPr>
          <p:cNvCxnSpPr>
            <a:cxnSpLocks/>
          </p:cNvCxnSpPr>
          <p:nvPr/>
        </p:nvCxnSpPr>
        <p:spPr>
          <a:xfrm>
            <a:off x="1113905" y="3857105"/>
            <a:ext cx="2743201" cy="2665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7C2413C-049E-42F5-A163-FA72FD83A02C}"/>
              </a:ext>
            </a:extLst>
          </p:cNvPr>
          <p:cNvCxnSpPr>
            <a:cxnSpLocks/>
          </p:cNvCxnSpPr>
          <p:nvPr/>
        </p:nvCxnSpPr>
        <p:spPr>
          <a:xfrm flipH="1">
            <a:off x="1113905" y="4350218"/>
            <a:ext cx="2743201" cy="5235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BBAD787-A7AC-4473-8729-F440EFC752A8}"/>
              </a:ext>
            </a:extLst>
          </p:cNvPr>
          <p:cNvSpPr txBox="1"/>
          <p:nvPr/>
        </p:nvSpPr>
        <p:spPr>
          <a:xfrm>
            <a:off x="942109" y="5701639"/>
            <a:ext cx="953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Sender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1B6A08-64CA-4594-B3E6-372F583840C7}"/>
              </a:ext>
            </a:extLst>
          </p:cNvPr>
          <p:cNvSpPr txBox="1"/>
          <p:nvPr/>
        </p:nvSpPr>
        <p:spPr>
          <a:xfrm>
            <a:off x="3277986" y="5653367"/>
            <a:ext cx="1158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Receiver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22BAFD-7901-465C-B3E4-E0B1DE7AC030}"/>
              </a:ext>
            </a:extLst>
          </p:cNvPr>
          <p:cNvSpPr txBox="1"/>
          <p:nvPr/>
        </p:nvSpPr>
        <p:spPr>
          <a:xfrm>
            <a:off x="1975670" y="3587919"/>
            <a:ext cx="953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Frame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9304AB-E306-42AF-B2B4-074E3B349157}"/>
              </a:ext>
            </a:extLst>
          </p:cNvPr>
          <p:cNvSpPr txBox="1"/>
          <p:nvPr/>
        </p:nvSpPr>
        <p:spPr>
          <a:xfrm>
            <a:off x="1956265" y="4350218"/>
            <a:ext cx="953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ACK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0B45E4F-15F4-4658-9E99-B5E2E1424823}"/>
              </a:ext>
            </a:extLst>
          </p:cNvPr>
          <p:cNvCxnSpPr/>
          <p:nvPr/>
        </p:nvCxnSpPr>
        <p:spPr>
          <a:xfrm>
            <a:off x="5580612" y="3808413"/>
            <a:ext cx="0" cy="17112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4D26817-622D-48E4-B79B-E6FB567C476B}"/>
              </a:ext>
            </a:extLst>
          </p:cNvPr>
          <p:cNvSpPr txBox="1"/>
          <p:nvPr/>
        </p:nvSpPr>
        <p:spPr>
          <a:xfrm>
            <a:off x="5793971" y="4269169"/>
            <a:ext cx="1158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Time</a:t>
            </a:r>
          </a:p>
        </p:txBody>
      </p:sp>
      <p:sp>
        <p:nvSpPr>
          <p:cNvPr id="20" name="Right Brace 19">
            <a:extLst>
              <a:ext uri="{FF2B5EF4-FFF2-40B4-BE49-F238E27FC236}">
                <a16:creationId xmlns:a16="http://schemas.microsoft.com/office/drawing/2014/main" id="{F3D059FD-52EC-4B8B-AAC4-0371051CED84}"/>
              </a:ext>
            </a:extLst>
          </p:cNvPr>
          <p:cNvSpPr/>
          <p:nvPr/>
        </p:nvSpPr>
        <p:spPr>
          <a:xfrm>
            <a:off x="4125889" y="3898350"/>
            <a:ext cx="144074" cy="830088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E934B07-00A1-49FD-82AA-49F985B88074}"/>
              </a:ext>
            </a:extLst>
          </p:cNvPr>
          <p:cNvSpPr txBox="1"/>
          <p:nvPr/>
        </p:nvSpPr>
        <p:spPr>
          <a:xfrm>
            <a:off x="4269963" y="4123669"/>
            <a:ext cx="1158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Timeout</a:t>
            </a:r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1622D233-8687-46C8-AE5B-5F09D11A2A83}"/>
              </a:ext>
            </a:extLst>
          </p:cNvPr>
          <p:cNvSpPr txBox="1">
            <a:spLocks/>
          </p:cNvSpPr>
          <p:nvPr/>
        </p:nvSpPr>
        <p:spPr>
          <a:xfrm>
            <a:off x="6738849" y="4873758"/>
            <a:ext cx="5760728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timeout fires too soon.</a:t>
            </a:r>
          </a:p>
        </p:txBody>
      </p:sp>
      <p:sp>
        <p:nvSpPr>
          <p:cNvPr id="23" name="Right Brace 22">
            <a:extLst>
              <a:ext uri="{FF2B5EF4-FFF2-40B4-BE49-F238E27FC236}">
                <a16:creationId xmlns:a16="http://schemas.microsoft.com/office/drawing/2014/main" id="{54D85E54-E29D-40CF-B351-97649BAC9CCC}"/>
              </a:ext>
            </a:extLst>
          </p:cNvPr>
          <p:cNvSpPr/>
          <p:nvPr/>
        </p:nvSpPr>
        <p:spPr>
          <a:xfrm>
            <a:off x="4125889" y="4775858"/>
            <a:ext cx="144074" cy="830088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8B6D66A-5401-4470-9227-4D8F09F45F17}"/>
              </a:ext>
            </a:extLst>
          </p:cNvPr>
          <p:cNvCxnSpPr>
            <a:cxnSpLocks/>
          </p:cNvCxnSpPr>
          <p:nvPr/>
        </p:nvCxnSpPr>
        <p:spPr>
          <a:xfrm>
            <a:off x="1113904" y="4691714"/>
            <a:ext cx="2743201" cy="2665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B124EAD-D97C-4AA0-B20B-B088E724D5C8}"/>
              </a:ext>
            </a:extLst>
          </p:cNvPr>
          <p:cNvCxnSpPr>
            <a:cxnSpLocks/>
          </p:cNvCxnSpPr>
          <p:nvPr/>
        </p:nvCxnSpPr>
        <p:spPr>
          <a:xfrm flipH="1">
            <a:off x="1169330" y="5129827"/>
            <a:ext cx="2743201" cy="5235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7B11AAF-C585-4B52-81CE-F75FE1EF5E2D}"/>
              </a:ext>
            </a:extLst>
          </p:cNvPr>
          <p:cNvSpPr txBox="1"/>
          <p:nvPr/>
        </p:nvSpPr>
        <p:spPr>
          <a:xfrm>
            <a:off x="2467505" y="4769569"/>
            <a:ext cx="953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Frame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898DC41-5EDB-4605-B371-3492B7CBEF14}"/>
              </a:ext>
            </a:extLst>
          </p:cNvPr>
          <p:cNvSpPr txBox="1"/>
          <p:nvPr/>
        </p:nvSpPr>
        <p:spPr>
          <a:xfrm>
            <a:off x="1871753" y="5479542"/>
            <a:ext cx="953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ACK</a:t>
            </a:r>
          </a:p>
        </p:txBody>
      </p:sp>
    </p:spTree>
    <p:extLst>
      <p:ext uri="{BB962C8B-B14F-4D97-AF65-F5344CB8AC3E}">
        <p14:creationId xmlns:p14="http://schemas.microsoft.com/office/powerpoint/2010/main" val="23832872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8BCC511-4A56-48A8-B313-B656DEC26391}"/>
              </a:ext>
            </a:extLst>
          </p:cNvPr>
          <p:cNvSpPr/>
          <p:nvPr/>
        </p:nvSpPr>
        <p:spPr>
          <a:xfrm>
            <a:off x="103694" y="532409"/>
            <a:ext cx="11840067" cy="60123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65D144-7F66-4460-9A75-137D54B1DF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5390" y="261254"/>
            <a:ext cx="10263447" cy="806190"/>
          </a:xfrm>
        </p:spPr>
        <p:txBody>
          <a:bodyPr>
            <a:normAutofit/>
          </a:bodyPr>
          <a:lstStyle/>
          <a:p>
            <a:pPr algn="l"/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Hamming Code?</a:t>
            </a:r>
            <a:endParaRPr lang="en-GB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EBDCC4-AD85-40EC-8689-1E7DFDD293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2" y="1559551"/>
            <a:ext cx="11551935" cy="4325860"/>
          </a:xfrm>
        </p:spPr>
        <p:txBody>
          <a:bodyPr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Forward Error Correction (FEC) technique developed by Richard Hamming (1950).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Adds extra parity bits to data bits → allows single-bit error detection and correction.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Redundancy is added so the receiver can find and correct one wrong bit without retransmission.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in: memory systems, digital communication, satellite links, etc.</a:t>
            </a:r>
          </a:p>
        </p:txBody>
      </p:sp>
    </p:spTree>
    <p:extLst>
      <p:ext uri="{BB962C8B-B14F-4D97-AF65-F5344CB8AC3E}">
        <p14:creationId xmlns:p14="http://schemas.microsoft.com/office/powerpoint/2010/main" val="4113142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8BCC511-4A56-48A8-B313-B656DEC26391}"/>
              </a:ext>
            </a:extLst>
          </p:cNvPr>
          <p:cNvSpPr/>
          <p:nvPr/>
        </p:nvSpPr>
        <p:spPr>
          <a:xfrm>
            <a:off x="103694" y="532409"/>
            <a:ext cx="11840067" cy="60123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65D144-7F66-4460-9A75-137D54B1DF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5390" y="261254"/>
            <a:ext cx="10263447" cy="806190"/>
          </a:xfrm>
        </p:spPr>
        <p:txBody>
          <a:bodyPr>
            <a:normAutofit/>
          </a:bodyPr>
          <a:lstStyle/>
          <a:p>
            <a:pPr algn="l"/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Hamming Code</a:t>
            </a:r>
            <a:endParaRPr lang="en-GB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EBDCC4-AD85-40EC-8689-1E7DFDD293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2" y="1559551"/>
            <a:ext cx="11551935" cy="4325860"/>
          </a:xfrm>
        </p:spPr>
        <p:txBody>
          <a:bodyPr>
            <a:no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parity bits at positions that are powers of 2Example: positions 1, 2, 4, 8, …Each parity bit covers specific data bits. Helps locate the error bit position directly. Formula: For m data bits and r parity bits:</a:t>
            </a:r>
          </a:p>
          <a:p>
            <a:pPr algn="l"/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Hamming Code=(n, r)   where n=m + r	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B615B6-B540-4917-BAAE-99BC592AA99C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8911" y="3450980"/>
            <a:ext cx="1924319" cy="54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0951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8BCC511-4A56-48A8-B313-B656DEC26391}"/>
              </a:ext>
            </a:extLst>
          </p:cNvPr>
          <p:cNvSpPr/>
          <p:nvPr/>
        </p:nvSpPr>
        <p:spPr>
          <a:xfrm>
            <a:off x="103694" y="532409"/>
            <a:ext cx="11840067" cy="60123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65D144-7F66-4460-9A75-137D54B1DF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5390" y="261254"/>
            <a:ext cx="10263447" cy="806190"/>
          </a:xfrm>
        </p:spPr>
        <p:txBody>
          <a:bodyPr>
            <a:normAutofit/>
          </a:bodyPr>
          <a:lstStyle/>
          <a:p>
            <a:pPr algn="l"/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Hamming Code Example</a:t>
            </a:r>
            <a:endParaRPr lang="en-GB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EBDCC4-AD85-40EC-8689-1E7DFDD293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2" y="1559550"/>
            <a:ext cx="11551935" cy="5218321"/>
          </a:xfrm>
        </p:spPr>
        <p:txBody>
          <a:bodyPr>
            <a:noAutofit/>
          </a:bodyPr>
          <a:lstStyle/>
          <a:p>
            <a:pPr algn="l"/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bits (original): 01101</a:t>
            </a:r>
          </a:p>
          <a:p>
            <a:pPr algn="l"/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Received codeword</a:t>
            </a:r>
            <a:r>
              <a:rPr lang="en-GB" sz="3200">
                <a:latin typeface="Times New Roman" panose="02020603050405020304" pitchFamily="18" charset="0"/>
                <a:cs typeface="Times New Roman" panose="02020603050405020304" pitchFamily="18" charset="0"/>
              </a:rPr>
              <a:t>: 001101110</a:t>
            </a: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how many parity bits are used in this Hamming Code.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positions of the parity bits and data bits in the received code.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parity checking to find the syndrome bits.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the position of the error (if any).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 the error and write the corrected codeword.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the original data bits after correction.</a:t>
            </a:r>
          </a:p>
        </p:txBody>
      </p:sp>
    </p:spTree>
    <p:extLst>
      <p:ext uri="{BB962C8B-B14F-4D97-AF65-F5344CB8AC3E}">
        <p14:creationId xmlns:p14="http://schemas.microsoft.com/office/powerpoint/2010/main" val="28227138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2F831-9483-42CD-8A8C-84519078DD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655762"/>
          </a:xfrm>
        </p:spPr>
        <p:txBody>
          <a:bodyPr>
            <a:normAutofit/>
          </a:bodyPr>
          <a:lstStyle/>
          <a:p>
            <a:r>
              <a:rPr lang="en-GB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6B4867-23FF-4492-8D4C-446BA93086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2920326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663</TotalTime>
  <Words>887</Words>
  <Application>Microsoft Office PowerPoint</Application>
  <PresentationFormat>Widescreen</PresentationFormat>
  <Paragraphs>126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Times New Roman</vt:lpstr>
      <vt:lpstr>Office Theme</vt:lpstr>
      <vt:lpstr>DS3105 Computer Networking</vt:lpstr>
      <vt:lpstr>Learning Objectives</vt:lpstr>
      <vt:lpstr>What is a Wireless Network?</vt:lpstr>
      <vt:lpstr>Features and Challenges of Wireless Communication</vt:lpstr>
      <vt:lpstr>Errors in Data Transmission</vt:lpstr>
      <vt:lpstr>Errors in Data Transmission</vt:lpstr>
      <vt:lpstr>Ensuring Reliable Wireless Communication</vt:lpstr>
      <vt:lpstr>Two Main Approaches</vt:lpstr>
      <vt:lpstr>Stop and wait ARQ Protocol</vt:lpstr>
      <vt:lpstr>Stop and wait ARQ Protocol</vt:lpstr>
      <vt:lpstr>Problems of Stop and wait Protocol</vt:lpstr>
      <vt:lpstr>Problems of Stop and wait Protocol</vt:lpstr>
      <vt:lpstr>Problems of Stop and wait Protocol</vt:lpstr>
      <vt:lpstr>What is Hamming Code?</vt:lpstr>
      <vt:lpstr>Hamming Code</vt:lpstr>
      <vt:lpstr>Hamming Code Example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DS3105 Computer Networking</dc:title>
  <dc:creator>DELL</dc:creator>
  <cp:lastModifiedBy>DELL</cp:lastModifiedBy>
  <cp:revision>7</cp:revision>
  <dcterms:created xsi:type="dcterms:W3CDTF">2025-10-10T04:29:49Z</dcterms:created>
  <dcterms:modified xsi:type="dcterms:W3CDTF">2025-11-19T00:12:31Z</dcterms:modified>
</cp:coreProperties>
</file>